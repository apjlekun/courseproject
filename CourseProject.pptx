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0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BFD"/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086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4DF6-5409-4909-8C8B-37FCA7DD3793}" type="datetimeFigureOut">
              <a:rPr lang="ru-RU" smtClean="0"/>
              <a:t>08.12.2025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A568B-7DB6-46CB-B7AC-332CF91BDCF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2473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4DF6-5409-4909-8C8B-37FCA7DD3793}" type="datetimeFigureOut">
              <a:rPr lang="ru-RU" smtClean="0"/>
              <a:t>08.12.2025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A568B-7DB6-46CB-B7AC-332CF91BDCF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8059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4DF6-5409-4909-8C8B-37FCA7DD3793}" type="datetimeFigureOut">
              <a:rPr lang="ru-RU" smtClean="0"/>
              <a:t>08.12.2025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A568B-7DB6-46CB-B7AC-332CF91BDCF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7857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4DF6-5409-4909-8C8B-37FCA7DD3793}" type="datetimeFigureOut">
              <a:rPr lang="ru-RU" smtClean="0"/>
              <a:t>08.12.2025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A568B-7DB6-46CB-B7AC-332CF91BDCF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431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4DF6-5409-4909-8C8B-37FCA7DD3793}" type="datetimeFigureOut">
              <a:rPr lang="ru-RU" smtClean="0"/>
              <a:t>08.12.2025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A568B-7DB6-46CB-B7AC-332CF91BDCF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050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4DF6-5409-4909-8C8B-37FCA7DD3793}" type="datetimeFigureOut">
              <a:rPr lang="ru-RU" smtClean="0"/>
              <a:t>08.12.2025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A568B-7DB6-46CB-B7AC-332CF91BDCF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491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4DF6-5409-4909-8C8B-37FCA7DD3793}" type="datetimeFigureOut">
              <a:rPr lang="ru-RU" smtClean="0"/>
              <a:t>08.12.2025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A568B-7DB6-46CB-B7AC-332CF91BDCF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16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4DF6-5409-4909-8C8B-37FCA7DD3793}" type="datetimeFigureOut">
              <a:rPr lang="ru-RU" smtClean="0"/>
              <a:t>08.12.2025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A568B-7DB6-46CB-B7AC-332CF91BDCF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8717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4DF6-5409-4909-8C8B-37FCA7DD3793}" type="datetimeFigureOut">
              <a:rPr lang="ru-RU" smtClean="0"/>
              <a:t>08.12.2025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A568B-7DB6-46CB-B7AC-332CF91BDCF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86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4DF6-5409-4909-8C8B-37FCA7DD3793}" type="datetimeFigureOut">
              <a:rPr lang="ru-RU" smtClean="0"/>
              <a:t>08.12.2025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A568B-7DB6-46CB-B7AC-332CF91BDCF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0453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04DF6-5409-4909-8C8B-37FCA7DD3793}" type="datetimeFigureOut">
              <a:rPr lang="ru-RU" smtClean="0"/>
              <a:t>08.12.2025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A568B-7DB6-46CB-B7AC-332CF91BDCF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953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04DF6-5409-4909-8C8B-37FCA7DD3793}" type="datetimeFigureOut">
              <a:rPr lang="ru-RU" smtClean="0"/>
              <a:t>08.12.2025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A568B-7DB6-46CB-B7AC-332CF91BDCF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2151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8.svg"/><Relationship Id="rId3" Type="http://schemas.openxmlformats.org/officeDocument/2006/relationships/image" Target="../media/image-4-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6.svg"/><Relationship Id="rId4" Type="http://schemas.openxmlformats.org/officeDocument/2006/relationships/image" Target="../media/image-4-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927677" y="6315075"/>
            <a:ext cx="10327120" cy="51810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927677" y="4427899"/>
            <a:ext cx="10327120" cy="628772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927677" y="5100318"/>
            <a:ext cx="10327120" cy="628772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927677" y="2828876"/>
            <a:ext cx="10327120" cy="9787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927677" y="195532"/>
            <a:ext cx="10327120" cy="2363109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27677" y="195532"/>
            <a:ext cx="10327120" cy="2363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Inter" panose="020B0604020202020204" charset="0"/>
                <a:ea typeface="Inter" panose="020B0604020202020204" charset="0"/>
              </a:rPr>
              <a:t>ФЕДЕРАЛЬНОЕ ГОСУДАРСТВЕННОЕ БЮДЖЕТНОЕ ОБРАЗОВАТЕЛЬНОЕ</a:t>
            </a:r>
            <a:br>
              <a:rPr lang="ru-RU" dirty="0">
                <a:latin typeface="Inter" panose="020B0604020202020204" charset="0"/>
                <a:ea typeface="Inter" panose="020B0604020202020204" charset="0"/>
              </a:rPr>
            </a:br>
            <a:r>
              <a:rPr lang="ru-RU" dirty="0">
                <a:latin typeface="Inter" panose="020B0604020202020204" charset="0"/>
                <a:ea typeface="Inter" panose="020B0604020202020204" charset="0"/>
              </a:rPr>
              <a:t>УЧРЕЖДЕНИЕ ВЫСШЕГО ОБРАЗОВАНИЯ</a:t>
            </a:r>
            <a:br>
              <a:rPr lang="ru-RU" dirty="0">
                <a:latin typeface="Inter" panose="020B0604020202020204" charset="0"/>
                <a:ea typeface="Inter" panose="020B0604020202020204" charset="0"/>
              </a:rPr>
            </a:br>
            <a:r>
              <a:rPr lang="ru-RU" dirty="0">
                <a:latin typeface="Inter" panose="020B0604020202020204" charset="0"/>
                <a:ea typeface="Inter" panose="020B0604020202020204" charset="0"/>
              </a:rPr>
              <a:t>«САНКТ-ПЕТЕРБУРГСКИЙ ГОСУДАРСТВЕННЫЙ УНИВЕРСИТЕТ</a:t>
            </a:r>
            <a:br>
              <a:rPr lang="ru-RU" dirty="0">
                <a:latin typeface="Inter" panose="020B0604020202020204" charset="0"/>
                <a:ea typeface="Inter" panose="020B0604020202020204" charset="0"/>
              </a:rPr>
            </a:br>
            <a:r>
              <a:rPr lang="ru-RU" dirty="0">
                <a:latin typeface="Inter" panose="020B0604020202020204" charset="0"/>
                <a:ea typeface="Inter" panose="020B0604020202020204" charset="0"/>
              </a:rPr>
              <a:t>ТЕЛЕКОММУНИКАЦИЙ ИМ. ПРОФ. М.А. БОНЧ-БРУЕВИЧА»</a:t>
            </a:r>
            <a:br>
              <a:rPr lang="ru-RU" dirty="0">
                <a:latin typeface="Inter" panose="020B0604020202020204" charset="0"/>
                <a:ea typeface="Inter" panose="020B0604020202020204" charset="0"/>
              </a:rPr>
            </a:br>
            <a:r>
              <a:rPr lang="ru-RU" dirty="0">
                <a:latin typeface="Inter" panose="020B0604020202020204" charset="0"/>
                <a:ea typeface="Inter" panose="020B0604020202020204" charset="0"/>
              </a:rPr>
              <a:t>(</a:t>
            </a:r>
            <a:r>
              <a:rPr lang="ru-RU" dirty="0" err="1">
                <a:latin typeface="Inter" panose="020B0604020202020204" charset="0"/>
                <a:ea typeface="Inter" panose="020B0604020202020204" charset="0"/>
              </a:rPr>
              <a:t>СПбГУТ</a:t>
            </a:r>
            <a:r>
              <a:rPr lang="ru-RU" dirty="0">
                <a:latin typeface="Inter" panose="020B0604020202020204" charset="0"/>
                <a:ea typeface="Inter" panose="020B0604020202020204" charset="0"/>
              </a:rPr>
              <a:t>)</a:t>
            </a:r>
            <a:br>
              <a:rPr lang="ru-RU" dirty="0">
                <a:latin typeface="Inter" panose="020B0604020202020204" charset="0"/>
                <a:ea typeface="Inter" panose="020B0604020202020204" charset="0"/>
              </a:rPr>
            </a:br>
            <a:r>
              <a:rPr lang="ru-RU" dirty="0">
                <a:latin typeface="Inter" panose="020B0604020202020204" charset="0"/>
                <a:ea typeface="Inter" panose="020B0604020202020204" charset="0"/>
              </a:rPr>
              <a:t>АРХАНГЕЛЬСКИЙ КОЛЛЕДЖ ТЕЛЕКОММУНИКАЦИЙ</a:t>
            </a:r>
            <a:br>
              <a:rPr lang="ru-RU" dirty="0">
                <a:latin typeface="Inter" panose="020B0604020202020204" charset="0"/>
                <a:ea typeface="Inter" panose="020B0604020202020204" charset="0"/>
              </a:rPr>
            </a:br>
            <a:r>
              <a:rPr lang="ru-RU" dirty="0">
                <a:latin typeface="Inter" panose="020B0604020202020204" charset="0"/>
                <a:ea typeface="Inter" panose="020B0604020202020204" charset="0"/>
              </a:rPr>
              <a:t>ИМ. Б.Л. РОЗИНГА (ФИЛИАЛ) </a:t>
            </a:r>
            <a:r>
              <a:rPr lang="ru-RU" dirty="0" err="1">
                <a:latin typeface="Inter" panose="020B0604020202020204" charset="0"/>
                <a:ea typeface="Inter" panose="020B0604020202020204" charset="0"/>
              </a:rPr>
              <a:t>СПбГУТ</a:t>
            </a:r>
            <a:r>
              <a:rPr lang="ru-RU" dirty="0">
                <a:latin typeface="Inter" panose="020B0604020202020204" charset="0"/>
                <a:ea typeface="Inter" panose="020B0604020202020204" charset="0"/>
              </a:rPr>
              <a:t/>
            </a:r>
            <a:br>
              <a:rPr lang="ru-RU" dirty="0">
                <a:latin typeface="Inter" panose="020B0604020202020204" charset="0"/>
                <a:ea typeface="Inter" panose="020B0604020202020204" charset="0"/>
              </a:rPr>
            </a:br>
            <a:r>
              <a:rPr lang="ru-RU" dirty="0">
                <a:latin typeface="Inter" panose="020B0604020202020204" charset="0"/>
                <a:ea typeface="Inter" panose="020B0604020202020204" charset="0"/>
              </a:rPr>
              <a:t>(АКТ (ф) </a:t>
            </a:r>
            <a:r>
              <a:rPr lang="ru-RU" dirty="0" err="1">
                <a:latin typeface="Inter" panose="020B0604020202020204" charset="0"/>
                <a:ea typeface="Inter" panose="020B0604020202020204" charset="0"/>
              </a:rPr>
              <a:t>СПбГУТ</a:t>
            </a:r>
            <a:r>
              <a:rPr lang="ru-RU" dirty="0">
                <a:latin typeface="Inter" panose="020B0604020202020204" charset="0"/>
                <a:ea typeface="Inter" panose="020B0604020202020204" charset="0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6919" y="2919794"/>
            <a:ext cx="9074426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3200" dirty="0" smtClean="0">
                <a:latin typeface="Inter" panose="020B0604020202020204" charset="0"/>
                <a:ea typeface="Inter" panose="020B0604020202020204" charset="0"/>
              </a:rPr>
              <a:t>КУРСОВОЙ ПРОЕКТ</a:t>
            </a:r>
          </a:p>
          <a:p>
            <a:pPr algn="ctr"/>
            <a:r>
              <a:rPr lang="ru-RU" dirty="0" smtClean="0">
                <a:latin typeface="Inter" panose="020B0604020202020204" charset="0"/>
                <a:ea typeface="Inter" panose="020B0604020202020204" charset="0"/>
              </a:rPr>
              <a:t>РАЗРАБОТКА ПОДСИТЕМЫ </a:t>
            </a:r>
            <a:r>
              <a:rPr lang="ru-RU" dirty="0" smtClean="0">
                <a:latin typeface="Inter" panose="020B0604020202020204" charset="0"/>
                <a:ea typeface="Inter" panose="020B0604020202020204" charset="0"/>
              </a:rPr>
              <a:t>«ГАСТРОБАР. УЧЁТ ПРОДУКТОВ КУХНИ»</a:t>
            </a:r>
            <a:endParaRPr lang="ru-RU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86509" y="4453987"/>
            <a:ext cx="4035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Inter" panose="020B0604020202020204" charset="0"/>
                <a:ea typeface="Inter" panose="020B0604020202020204" charset="0"/>
              </a:rPr>
              <a:t>Кленин Игорь Николаевич</a:t>
            </a:r>
          </a:p>
          <a:p>
            <a:r>
              <a:rPr lang="ru-RU" smtClean="0">
                <a:latin typeface="Manrope" panose="020B0604020202020204" charset="0"/>
              </a:rPr>
              <a:t>Студент ИСПП-21</a:t>
            </a:r>
            <a:endParaRPr lang="ru-RU" dirty="0">
              <a:latin typeface="Manrope" panose="020B060402020202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86509" y="5100318"/>
            <a:ext cx="4035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>
                <a:latin typeface="Inter" panose="020B0604020202020204" charset="0"/>
                <a:ea typeface="Inter" panose="020B0604020202020204" charset="0"/>
              </a:rPr>
              <a:t>Маломан</a:t>
            </a:r>
            <a:r>
              <a:rPr lang="ru-RU" dirty="0" smtClean="0">
                <a:latin typeface="Inter" panose="020B0604020202020204" charset="0"/>
                <a:ea typeface="Inter" panose="020B0604020202020204" charset="0"/>
              </a:rPr>
              <a:t> Юлия Сергеевна</a:t>
            </a:r>
          </a:p>
          <a:p>
            <a:r>
              <a:rPr lang="ru-RU" dirty="0" smtClean="0">
                <a:latin typeface="Manrope" panose="020B0604020202020204" charset="0"/>
              </a:rPr>
              <a:t>Руководитель</a:t>
            </a:r>
            <a:endParaRPr lang="ru-RU" dirty="0">
              <a:latin typeface="Manrope" panose="020B06040202020202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20301" y="6392980"/>
            <a:ext cx="3647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Архангельск, 2025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071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838200" y="1825625"/>
            <a:ext cx="5702300" cy="4351338"/>
          </a:xfrm>
          <a:prstGeom prst="roundRect">
            <a:avLst>
              <a:gd name="adj" fmla="val 616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94415"/>
            <a:ext cx="57023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 smtClean="0">
                <a:latin typeface="Manrope" panose="020B0604020202020204" charset="0"/>
              </a:rPr>
              <a:t>В динамичной среде </a:t>
            </a:r>
            <a:r>
              <a:rPr lang="ru-RU" sz="2400" dirty="0" err="1" smtClean="0">
                <a:latin typeface="Manrope" panose="020B0604020202020204" charset="0"/>
              </a:rPr>
              <a:t>гастробаров</a:t>
            </a:r>
            <a:r>
              <a:rPr lang="ru-RU" sz="2400" dirty="0" smtClean="0">
                <a:latin typeface="Manrope" panose="020B0604020202020204" charset="0"/>
              </a:rPr>
              <a:t> и ресторанов, где каждая деталь влияет на прибыль и качество обслуживания, ручной учет ингредиентов становится серьезным препятствием. Это приводит к ряду критических проблем:</a:t>
            </a:r>
          </a:p>
          <a:p>
            <a:r>
              <a:rPr lang="ru-RU" sz="2400" dirty="0" smtClean="0">
                <a:latin typeface="Manrope" panose="020B0604020202020204" charset="0"/>
              </a:rPr>
              <a:t>Неточные данные по запасам</a:t>
            </a:r>
          </a:p>
          <a:p>
            <a:r>
              <a:rPr lang="ru-RU" sz="2400" dirty="0" smtClean="0">
                <a:latin typeface="Manrope" panose="020B0604020202020204" charset="0"/>
              </a:rPr>
              <a:t>Потери от порчи и недостач</a:t>
            </a:r>
          </a:p>
          <a:p>
            <a:r>
              <a:rPr lang="ru-RU" sz="2400" dirty="0" smtClean="0">
                <a:latin typeface="Manrope" panose="020B0604020202020204" charset="0"/>
              </a:rPr>
              <a:t>Задержки в пополнении</a:t>
            </a:r>
          </a:p>
          <a:p>
            <a:r>
              <a:rPr lang="ru-RU" sz="2400" dirty="0" smtClean="0">
                <a:latin typeface="Manrope" panose="020B0604020202020204" charset="0"/>
              </a:rPr>
              <a:t>Высокие операционные расходы</a:t>
            </a:r>
          </a:p>
          <a:p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38200" y="768852"/>
            <a:ext cx="10327120" cy="51810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Inter" panose="020B0604020202020204" charset="0"/>
                <a:ea typeface="Inter" panose="020B0604020202020204" charset="0"/>
              </a:rPr>
              <a:t>Актуальность</a:t>
            </a:r>
            <a:endParaRPr lang="ru-RU" sz="3200" b="1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026" name="Picture 2" descr="https://cdn.gamma.app/5dkp6hav3k08a9o/generated-images/kfjRRlfA6OAhcntvqqhx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462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92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838200" y="768852"/>
            <a:ext cx="10327120" cy="51810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38200" y="1470025"/>
            <a:ext cx="10327120" cy="891673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70025"/>
            <a:ext cx="10515600" cy="1044575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 smtClean="0">
                <a:latin typeface="Inter" panose="020B0604020202020204" charset="0"/>
                <a:ea typeface="Inter" panose="020B0604020202020204" charset="0"/>
              </a:rPr>
              <a:t>Разработать подсистему </a:t>
            </a:r>
          </a:p>
          <a:p>
            <a:pPr marL="0" indent="0" algn="ctr">
              <a:buNone/>
            </a:pPr>
            <a:r>
              <a:rPr lang="ru-RU" sz="2400" dirty="0">
                <a:latin typeface="Manrope" panose="020B0604020202020204" charset="0"/>
              </a:rPr>
              <a:t>к</a:t>
            </a:r>
            <a:r>
              <a:rPr lang="ru-RU" sz="2400" dirty="0" smtClean="0">
                <a:latin typeface="Manrope" panose="020B0604020202020204" charset="0"/>
              </a:rPr>
              <a:t>оторая будет оптимизировать процесс учёта и заказа ингредиентов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96" b="25217"/>
          <a:stretch/>
        </p:blipFill>
        <p:spPr>
          <a:xfrm>
            <a:off x="838200" y="2781300"/>
            <a:ext cx="10515600" cy="35306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Inter" panose="020B0604020202020204" charset="0"/>
                <a:ea typeface="Inter" panose="020B0604020202020204" charset="0"/>
              </a:rPr>
              <a:t>Цель</a:t>
            </a:r>
            <a:endParaRPr lang="ru-RU" sz="3200" b="1" dirty="0"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66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Скругленный прямоугольник 19"/>
          <p:cNvSpPr/>
          <p:nvPr/>
        </p:nvSpPr>
        <p:spPr>
          <a:xfrm>
            <a:off x="6349040" y="4143110"/>
            <a:ext cx="4816280" cy="59203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6349040" y="3339686"/>
            <a:ext cx="4816280" cy="59203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6349040" y="2535566"/>
            <a:ext cx="4816280" cy="59203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6349040" y="1731716"/>
            <a:ext cx="4816280" cy="59203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838200" y="4143110"/>
            <a:ext cx="4816280" cy="59203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838200" y="3339338"/>
            <a:ext cx="4816280" cy="59203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38200" y="2535566"/>
            <a:ext cx="4816280" cy="59203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838200" y="1731716"/>
            <a:ext cx="4816280" cy="59203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838200" y="768852"/>
            <a:ext cx="10327120" cy="51810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b="1" dirty="0" smtClean="0">
                <a:latin typeface="Inter" panose="020B0604020202020204" charset="0"/>
                <a:ea typeface="Inter" panose="020B0604020202020204" charset="0"/>
              </a:rPr>
              <a:t>Задачи</a:t>
            </a:r>
            <a:endParaRPr lang="ru-RU" sz="32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82F559-3189-FD6D-CC17-85E342FDFB88}"/>
              </a:ext>
            </a:extLst>
          </p:cNvPr>
          <p:cNvSpPr txBox="1"/>
          <p:nvPr/>
        </p:nvSpPr>
        <p:spPr>
          <a:xfrm>
            <a:off x="1382314" y="1704410"/>
            <a:ext cx="4272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rgbClr val="0E0E0E"/>
                </a:solidFill>
                <a:latin typeface="Manrope" panose="020B0604020202020204" charset="0"/>
                <a:ea typeface="Pacifico"/>
                <a:cs typeface="Poppins" panose="020B0604020202020204" charset="0"/>
                <a:sym typeface="Pacifico"/>
              </a:rPr>
              <a:t>Анализ целевой аудитории и потребностей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D3810-38BB-1761-006F-0474B15F1129}"/>
              </a:ext>
            </a:extLst>
          </p:cNvPr>
          <p:cNvSpPr txBox="1"/>
          <p:nvPr/>
        </p:nvSpPr>
        <p:spPr>
          <a:xfrm>
            <a:off x="1382314" y="2651552"/>
            <a:ext cx="4272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E0E0E"/>
                </a:solidFill>
                <a:latin typeface="Manrope" panose="020B0604020202020204" charset="0"/>
                <a:ea typeface="Pacifico"/>
                <a:cs typeface="Poppins" panose="020B0604020202020204" charset="0"/>
                <a:sym typeface="Pacifico"/>
              </a:rPr>
              <a:t>Проектирование архитектуры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B5DCA-D418-676C-5262-9C98DFBE982A}"/>
              </a:ext>
            </a:extLst>
          </p:cNvPr>
          <p:cNvSpPr txBox="1"/>
          <p:nvPr/>
        </p:nvSpPr>
        <p:spPr>
          <a:xfrm>
            <a:off x="1382314" y="3413878"/>
            <a:ext cx="4272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E0E0E"/>
                </a:solidFill>
                <a:latin typeface="Manrope" panose="020B0604020202020204" charset="0"/>
                <a:ea typeface="Pacifico"/>
                <a:cs typeface="Poppins" panose="020B0604020202020204" charset="0"/>
                <a:sym typeface="Pacifico"/>
              </a:rPr>
              <a:t>Разработка структуры базы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6343CC-571B-B925-5202-E163532D84F6}"/>
              </a:ext>
            </a:extLst>
          </p:cNvPr>
          <p:cNvSpPr txBox="1"/>
          <p:nvPr/>
        </p:nvSpPr>
        <p:spPr>
          <a:xfrm>
            <a:off x="1382314" y="4254463"/>
            <a:ext cx="4272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E0E0E"/>
                </a:solidFill>
                <a:latin typeface="Manrope" panose="020B0604020202020204" charset="0"/>
                <a:ea typeface="Pacifico"/>
                <a:cs typeface="Poppins" panose="020B0604020202020204" charset="0"/>
                <a:sym typeface="Pacifico"/>
              </a:rPr>
              <a:t>Разработка интерфейса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977B90-0D6B-545E-9150-C52B003AAECF}"/>
              </a:ext>
            </a:extLst>
          </p:cNvPr>
          <p:cNvSpPr txBox="1"/>
          <p:nvPr/>
        </p:nvSpPr>
        <p:spPr>
          <a:xfrm>
            <a:off x="6893154" y="1840761"/>
            <a:ext cx="4272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E0E0E"/>
                </a:solidFill>
                <a:latin typeface="Manrope" panose="020B0604020202020204" charset="0"/>
                <a:ea typeface="Pacifico"/>
                <a:cs typeface="Poppins" panose="020B0604020202020204" charset="0"/>
                <a:sym typeface="Pacifico"/>
              </a:rPr>
              <a:t>Реализация модулей подсистемы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F28F16-75AB-8E3F-EDBD-9FDE2E3FE063}"/>
              </a:ext>
            </a:extLst>
          </p:cNvPr>
          <p:cNvSpPr txBox="1"/>
          <p:nvPr/>
        </p:nvSpPr>
        <p:spPr>
          <a:xfrm>
            <a:off x="6893154" y="2646918"/>
            <a:ext cx="4272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rgbClr val="0E0E0E"/>
                </a:solidFill>
                <a:latin typeface="Manrope" panose="020B0604020202020204" charset="0"/>
                <a:ea typeface="Pacifico"/>
                <a:cs typeface="Poppins" panose="020B0604020202020204" charset="0"/>
                <a:sym typeface="Pacifico"/>
              </a:rPr>
              <a:t>Интеграция модулей подсистемы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A5374B-0F1A-AD12-4C5B-0360B6CA5AE3}"/>
              </a:ext>
            </a:extLst>
          </p:cNvPr>
          <p:cNvSpPr txBox="1"/>
          <p:nvPr/>
        </p:nvSpPr>
        <p:spPr>
          <a:xfrm>
            <a:off x="6893154" y="3450691"/>
            <a:ext cx="4272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E0E0E"/>
                </a:solidFill>
                <a:latin typeface="Manrope" panose="020B0604020202020204" charset="0"/>
                <a:ea typeface="Pacifico"/>
                <a:cs typeface="Poppins" panose="020B0604020202020204" charset="0"/>
                <a:sym typeface="Pacifico"/>
              </a:rPr>
              <a:t>Тестирование</a:t>
            </a:r>
            <a:endParaRPr lang="ru-RU" dirty="0">
              <a:latin typeface="Manrope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235CAE-EA30-97E0-3795-76B385EAFF4C}"/>
              </a:ext>
            </a:extLst>
          </p:cNvPr>
          <p:cNvSpPr txBox="1"/>
          <p:nvPr/>
        </p:nvSpPr>
        <p:spPr>
          <a:xfrm>
            <a:off x="6893154" y="4241726"/>
            <a:ext cx="4272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E0E0E"/>
                </a:solidFill>
                <a:latin typeface="Manrope" panose="020B0604020202020204" charset="0"/>
                <a:ea typeface="Pacifico"/>
                <a:cs typeface="Poppins" panose="020B0604020202020204" charset="0"/>
                <a:sym typeface="Pacifico"/>
              </a:rPr>
              <a:t>Написание документации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214" y="1731716"/>
            <a:ext cx="41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Inter" panose="020B0604020202020204" charset="0"/>
                <a:ea typeface="Inter" panose="020B0604020202020204" charset="0"/>
              </a:rPr>
              <a:t>1</a:t>
            </a:r>
            <a:endParaRPr lang="ru-RU" sz="32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3214" y="2530754"/>
            <a:ext cx="41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Inter" panose="020B0604020202020204" charset="0"/>
                <a:ea typeface="Inter" panose="020B0604020202020204" charset="0"/>
              </a:rPr>
              <a:t>2</a:t>
            </a:r>
            <a:endParaRPr lang="ru-RU" sz="32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3214" y="3342969"/>
            <a:ext cx="41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Inter" panose="020B0604020202020204" charset="0"/>
                <a:ea typeface="Inter" panose="020B0604020202020204" charset="0"/>
              </a:rPr>
              <a:t>3</a:t>
            </a:r>
            <a:endParaRPr lang="ru-RU" sz="32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3214" y="4146741"/>
            <a:ext cx="41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Inter" panose="020B0604020202020204" charset="0"/>
                <a:ea typeface="Inter" panose="020B0604020202020204" charset="0"/>
              </a:rPr>
              <a:t>4</a:t>
            </a:r>
            <a:endParaRPr lang="ru-RU" sz="32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74054" y="1743512"/>
            <a:ext cx="41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Inter" panose="020B0604020202020204" charset="0"/>
                <a:ea typeface="Inter" panose="020B0604020202020204" charset="0"/>
              </a:rPr>
              <a:t>5</a:t>
            </a:r>
            <a:endParaRPr lang="ru-RU" sz="32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74054" y="2548480"/>
            <a:ext cx="41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Inter" panose="020B0604020202020204" charset="0"/>
                <a:ea typeface="Inter" panose="020B0604020202020204" charset="0"/>
              </a:rPr>
              <a:t>6</a:t>
            </a:r>
            <a:endParaRPr lang="ru-RU" sz="32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74054" y="3351960"/>
            <a:ext cx="41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Inter" panose="020B0604020202020204" charset="0"/>
                <a:ea typeface="Inter" panose="020B0604020202020204" charset="0"/>
              </a:rPr>
              <a:t>7</a:t>
            </a:r>
            <a:endParaRPr lang="ru-RU" sz="32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74054" y="4146740"/>
            <a:ext cx="419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Inter" panose="020B0604020202020204" charset="0"/>
                <a:ea typeface="Inter" panose="020B0604020202020204" charset="0"/>
              </a:rPr>
              <a:t>8</a:t>
            </a:r>
            <a:endParaRPr lang="ru-RU" sz="3200" b="1" dirty="0"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453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кругленный прямоугольник 20"/>
          <p:cNvSpPr/>
          <p:nvPr/>
        </p:nvSpPr>
        <p:spPr>
          <a:xfrm>
            <a:off x="838200" y="1480337"/>
            <a:ext cx="10327120" cy="720352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838200" y="768852"/>
            <a:ext cx="10327120" cy="51810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1380370" y="5426874"/>
            <a:ext cx="6011030" cy="1018846"/>
          </a:xfrm>
          <a:prstGeom prst="roundRect">
            <a:avLst>
              <a:gd name="adj" fmla="val 9693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смс</a:t>
            </a:r>
            <a:endParaRPr lang="ru-RU" dirty="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6426198" y="2416669"/>
            <a:ext cx="3253661" cy="2863519"/>
          </a:xfrm>
          <a:prstGeom prst="roundRect">
            <a:avLst>
              <a:gd name="adj" fmla="val 9693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смс</a:t>
            </a:r>
            <a:endParaRPr lang="ru-RU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1380370" y="2416670"/>
            <a:ext cx="3253661" cy="2863519"/>
          </a:xfrm>
          <a:prstGeom prst="roundRect">
            <a:avLst>
              <a:gd name="adj" fmla="val 9693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смс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Inter" panose="020B0604020202020204" charset="0"/>
                <a:ea typeface="Inter" panose="020B0604020202020204" charset="0"/>
              </a:rPr>
              <a:t>Архитектура и технологии</a:t>
            </a:r>
            <a:endParaRPr lang="ru-RU" sz="32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56046" y="2416670"/>
            <a:ext cx="486013" cy="486013"/>
          </a:xfrm>
          <a:prstGeom prst="roundRect">
            <a:avLst>
              <a:gd name="adj" fmla="val 40004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58039" y="2503646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.NET 8 &amp; WPF</a:t>
            </a:r>
            <a:endParaRPr lang="en-US" sz="2400" b="1" dirty="0"/>
          </a:p>
        </p:txBody>
      </p:sp>
      <p:sp>
        <p:nvSpPr>
          <p:cNvPr id="7" name="Text 4"/>
          <p:cNvSpPr/>
          <p:nvPr/>
        </p:nvSpPr>
        <p:spPr>
          <a:xfrm>
            <a:off x="1458039" y="3057168"/>
            <a:ext cx="2993112" cy="172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Мощная платформа для создания производительных настольных приложений с богатым пользовательским интерфейсом.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790980" y="2416729"/>
            <a:ext cx="486013" cy="486013"/>
          </a:xfrm>
          <a:prstGeom prst="roundRect">
            <a:avLst>
              <a:gd name="adj" fmla="val 40004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973" y="2490905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Entity Framework</a:t>
            </a:r>
            <a:endParaRPr lang="en-US" sz="2400" b="1" dirty="0"/>
          </a:p>
        </p:txBody>
      </p:sp>
      <p:sp>
        <p:nvSpPr>
          <p:cNvPr id="10" name="Text 7"/>
          <p:cNvSpPr/>
          <p:nvPr/>
        </p:nvSpPr>
        <p:spPr>
          <a:xfrm>
            <a:off x="6492973" y="3044427"/>
            <a:ext cx="2993112" cy="1727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Эффективное взаимодействие с базами данных, обеспечивающее целостность и доступность данных.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756046" y="5445123"/>
            <a:ext cx="486013" cy="486013"/>
          </a:xfrm>
          <a:prstGeom prst="roundRect">
            <a:avLst>
              <a:gd name="adj" fmla="val 40004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58039" y="5496169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MVVM Архитектура</a:t>
            </a:r>
            <a:endParaRPr lang="en-US" sz="2400" b="1" dirty="0"/>
          </a:p>
        </p:txBody>
      </p:sp>
      <p:sp>
        <p:nvSpPr>
          <p:cNvPr id="13" name="Text 10"/>
          <p:cNvSpPr/>
          <p:nvPr/>
        </p:nvSpPr>
        <p:spPr>
          <a:xfrm>
            <a:off x="1458039" y="6027088"/>
            <a:ext cx="6958132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Чистая, тестируемая и поддерживаемая кодовая база.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38200" y="1490191"/>
            <a:ext cx="10515600" cy="750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000" dirty="0" err="1">
                <a:latin typeface="Manrope" panose="020B0604020202020204" charset="0"/>
              </a:rPr>
              <a:t>BarInventoryApp</a:t>
            </a:r>
            <a:r>
              <a:rPr lang="en-US" sz="2000" dirty="0">
                <a:latin typeface="Manrope" panose="020B0604020202020204" charset="0"/>
              </a:rPr>
              <a:t> </a:t>
            </a:r>
            <a:r>
              <a:rPr lang="ru-RU" sz="2000" dirty="0">
                <a:latin typeface="Manrope" panose="020B0604020202020204" charset="0"/>
              </a:rPr>
              <a:t>построен на современном стеке технологий, обеспечивающий надёжность, безопасность и масштабируемость</a:t>
            </a:r>
            <a:endParaRPr lang="en-US" sz="2000" dirty="0">
              <a:latin typeface="Manrop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77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/>
          <p:cNvSpPr/>
          <p:nvPr/>
        </p:nvSpPr>
        <p:spPr>
          <a:xfrm>
            <a:off x="6821170" y="4017444"/>
            <a:ext cx="4011930" cy="1821093"/>
          </a:xfrm>
          <a:prstGeom prst="roundRect">
            <a:avLst>
              <a:gd name="adj" fmla="val 9693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6821170" y="1965578"/>
            <a:ext cx="4011930" cy="1821093"/>
          </a:xfrm>
          <a:prstGeom prst="roundRect">
            <a:avLst>
              <a:gd name="adj" fmla="val 9693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1620907" y="1965577"/>
            <a:ext cx="4011930" cy="1821093"/>
          </a:xfrm>
          <a:prstGeom prst="roundRect">
            <a:avLst>
              <a:gd name="adj" fmla="val 9693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смс</a:t>
            </a:r>
            <a:endParaRPr lang="ru-RU" dirty="0"/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1620907" y="4017444"/>
            <a:ext cx="4011930" cy="1821093"/>
          </a:xfrm>
          <a:prstGeom prst="roundRect">
            <a:avLst>
              <a:gd name="adj" fmla="val 9693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838200" y="768852"/>
            <a:ext cx="10327120" cy="51810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 0"/>
          <p:cNvSpPr/>
          <p:nvPr/>
        </p:nvSpPr>
        <p:spPr>
          <a:xfrm>
            <a:off x="871833" y="744418"/>
            <a:ext cx="512992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ru-RU" sz="3200" b="1" dirty="0" smtClean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Ключевой функционал</a:t>
            </a:r>
            <a:endParaRPr lang="en-US" sz="3200" b="1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93790" y="1704935"/>
            <a:ext cx="680442" cy="68044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674555" y="1994018"/>
            <a:ext cx="30203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 smtClean="0">
                <a:latin typeface="Inter" pitchFamily="34" charset="0"/>
                <a:ea typeface="Inter" pitchFamily="34" charset="-122"/>
                <a:cs typeface="Inter" pitchFamily="34" charset="-120"/>
              </a:rPr>
              <a:t>Ролевая авторизация</a:t>
            </a:r>
            <a:endParaRPr lang="en-US" sz="2200" b="1" dirty="0"/>
          </a:p>
        </p:txBody>
      </p:sp>
      <p:sp>
        <p:nvSpPr>
          <p:cNvPr id="7" name="Text 2"/>
          <p:cNvSpPr/>
          <p:nvPr/>
        </p:nvSpPr>
        <p:spPr>
          <a:xfrm>
            <a:off x="1674555" y="2484436"/>
            <a:ext cx="2835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Гибкий доступ для менеджеров, барменов и администраторов.</a:t>
            </a:r>
            <a:endParaRPr lang="en-US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923717" y="1704935"/>
            <a:ext cx="680442" cy="68044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857980" y="4031772"/>
            <a:ext cx="38100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 smtClean="0">
                <a:latin typeface="Inter" pitchFamily="34" charset="0"/>
                <a:ea typeface="Inter" pitchFamily="34" charset="-122"/>
                <a:cs typeface="Inter" pitchFamily="34" charset="-120"/>
              </a:rPr>
              <a:t>Интерактивные дашборды</a:t>
            </a:r>
            <a:endParaRPr lang="en-US" sz="2200" b="1" dirty="0"/>
          </a:p>
        </p:txBody>
      </p:sp>
      <p:sp>
        <p:nvSpPr>
          <p:cNvPr id="10" name="Text 4"/>
          <p:cNvSpPr/>
          <p:nvPr/>
        </p:nvSpPr>
        <p:spPr>
          <a:xfrm>
            <a:off x="6857980" y="4521973"/>
            <a:ext cx="319468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Быстрый обзор ключевых показателей для каждой роли.</a:t>
            </a:r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923717" y="3814306"/>
            <a:ext cx="680442" cy="68044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7981" y="1994018"/>
            <a:ext cx="3975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 smtClean="0"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ингредиентами</a:t>
            </a:r>
            <a:endParaRPr lang="en-US" sz="2200" b="1" dirty="0"/>
          </a:p>
        </p:txBody>
      </p:sp>
      <p:sp>
        <p:nvSpPr>
          <p:cNvPr id="13" name="Text 6"/>
          <p:cNvSpPr/>
          <p:nvPr/>
        </p:nvSpPr>
        <p:spPr>
          <a:xfrm>
            <a:off x="6857981" y="2484436"/>
            <a:ext cx="319468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Легкое добавление, изменение и удаление позиций.</a:t>
            </a:r>
            <a:endParaRPr lang="en-US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97501" y="3814306"/>
            <a:ext cx="680442" cy="68044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674555" y="40174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 smtClean="0">
                <a:latin typeface="Inter" pitchFamily="34" charset="0"/>
                <a:ea typeface="Inter" pitchFamily="34" charset="-122"/>
                <a:cs typeface="Inter" pitchFamily="34" charset="-120"/>
              </a:rPr>
              <a:t>Система заказов</a:t>
            </a:r>
            <a:endParaRPr lang="en-US" sz="2200" b="1" dirty="0"/>
          </a:p>
        </p:txBody>
      </p:sp>
      <p:sp>
        <p:nvSpPr>
          <p:cNvPr id="16" name="Text 8"/>
          <p:cNvSpPr/>
          <p:nvPr/>
        </p:nvSpPr>
        <p:spPr>
          <a:xfrm>
            <a:off x="1674555" y="4521973"/>
            <a:ext cx="319468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dirty="0" smtClean="0">
                <a:latin typeface="Manrope" pitchFamily="34" charset="0"/>
                <a:ea typeface="Manrope" pitchFamily="34" charset="-122"/>
                <a:cs typeface="Manrope" pitchFamily="34" charset="-120"/>
              </a:rPr>
              <a:t>Формирование</a:t>
            </a:r>
            <a:r>
              <a:rPr lang="en-US" dirty="0" smtClean="0"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и отслеживание заказов на пополнение.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94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кругленный прямоугольник 20"/>
          <p:cNvSpPr/>
          <p:nvPr/>
        </p:nvSpPr>
        <p:spPr>
          <a:xfrm>
            <a:off x="838200" y="768852"/>
            <a:ext cx="10327120" cy="51810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Inter" panose="020B0604020202020204" charset="0"/>
                <a:ea typeface="Inter" panose="020B0604020202020204" charset="0"/>
              </a:rPr>
              <a:t>Преимущества</a:t>
            </a:r>
            <a:endParaRPr lang="ru-RU" sz="32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56321" y="2089999"/>
            <a:ext cx="29901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4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Увеличение Прибыли</a:t>
            </a:r>
            <a:endParaRPr lang="en-US" sz="2400" b="1" dirty="0"/>
          </a:p>
        </p:txBody>
      </p:sp>
      <p:sp>
        <p:nvSpPr>
          <p:cNvPr id="6" name="Text 2"/>
          <p:cNvSpPr/>
          <p:nvPr/>
        </p:nvSpPr>
        <p:spPr>
          <a:xfrm>
            <a:off x="147755" y="258041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Сокращение потерь и оптимизация закупок</a:t>
            </a: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874" y="2045410"/>
            <a:ext cx="3436056" cy="343605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845823" y="20944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Экономия Времени</a:t>
            </a:r>
            <a:endParaRPr lang="en-US" sz="2400" b="1" dirty="0"/>
          </a:p>
        </p:txBody>
      </p:sp>
      <p:sp>
        <p:nvSpPr>
          <p:cNvPr id="10" name="Text 4"/>
          <p:cNvSpPr/>
          <p:nvPr/>
        </p:nvSpPr>
        <p:spPr>
          <a:xfrm>
            <a:off x="7845823" y="2584833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Автоматизация рутины освобождает время для клиентов и креатива.</a:t>
            </a:r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243" y="2045410"/>
            <a:ext cx="3436056" cy="3436056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845823" y="4043418"/>
            <a:ext cx="37098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Улучшение Обслуживания</a:t>
            </a:r>
            <a:endParaRPr lang="en-US" sz="2400" b="1" dirty="0"/>
          </a:p>
        </p:txBody>
      </p:sp>
      <p:sp>
        <p:nvSpPr>
          <p:cNvPr id="14" name="Text 6"/>
          <p:cNvSpPr/>
          <p:nvPr/>
        </p:nvSpPr>
        <p:spPr>
          <a:xfrm>
            <a:off x="7845823" y="4533837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Всегда в наличии нужные ингредиенты для идеальных напитков.</a:t>
            </a:r>
            <a:endParaRPr lang="en-US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196" y="2182433"/>
            <a:ext cx="3396150" cy="339615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211222" y="4043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4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Масштабируемость</a:t>
            </a:r>
            <a:endParaRPr lang="en-US" sz="2400" b="1" dirty="0"/>
          </a:p>
        </p:txBody>
      </p:sp>
      <p:sp>
        <p:nvSpPr>
          <p:cNvPr id="18" name="Text 8"/>
          <p:cNvSpPr/>
          <p:nvPr/>
        </p:nvSpPr>
        <p:spPr>
          <a:xfrm>
            <a:off x="147756" y="4533539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Решение подходит как для одного заведения, так и для сети баров.</a:t>
            </a:r>
            <a:endParaRPr lang="en-US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9906" y="2240362"/>
            <a:ext cx="3333178" cy="333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8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838200" y="2094415"/>
            <a:ext cx="6540500" cy="908282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838200" y="768852"/>
            <a:ext cx="6540500" cy="51810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Inter" panose="020B0604020202020204" charset="0"/>
                <a:ea typeface="Inter" panose="020B0604020202020204" charset="0"/>
              </a:rPr>
              <a:t>Заключение</a:t>
            </a:r>
            <a:endParaRPr lang="ru-RU" sz="3200" b="1"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700" y="0"/>
            <a:ext cx="4559300" cy="6838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2171700"/>
            <a:ext cx="6540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Manrope" panose="020B0604020202020204" charset="0"/>
              </a:rPr>
              <a:t>Поставленная цель закрыта и все её компоненты выполнены</a:t>
            </a:r>
            <a:endParaRPr lang="ru-RU" sz="2400" dirty="0">
              <a:latin typeface="Manrop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31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927677" y="6315075"/>
            <a:ext cx="10327120" cy="51810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927677" y="4427899"/>
            <a:ext cx="10327120" cy="628772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927677" y="5100318"/>
            <a:ext cx="10327120" cy="628772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927677" y="2828876"/>
            <a:ext cx="10327120" cy="9787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927677" y="195532"/>
            <a:ext cx="10327120" cy="2363109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27677" y="195532"/>
            <a:ext cx="10327120" cy="2363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Inter" panose="020B0604020202020204" charset="0"/>
                <a:ea typeface="Inter" panose="020B0604020202020204" charset="0"/>
              </a:rPr>
              <a:t>ФЕДЕРАЛЬНОЕ ГОСУДАРСТВЕННОЕ БЮДЖЕТНОЕ ОБРАЗОВАТЕЛЬНОЕ</a:t>
            </a:r>
            <a:br>
              <a:rPr lang="ru-RU" dirty="0">
                <a:latin typeface="Inter" panose="020B0604020202020204" charset="0"/>
                <a:ea typeface="Inter" panose="020B0604020202020204" charset="0"/>
              </a:rPr>
            </a:br>
            <a:r>
              <a:rPr lang="ru-RU" dirty="0">
                <a:latin typeface="Inter" panose="020B0604020202020204" charset="0"/>
                <a:ea typeface="Inter" panose="020B0604020202020204" charset="0"/>
              </a:rPr>
              <a:t>УЧРЕЖДЕНИЕ ВЫСШЕГО ОБРАЗОВАНИЯ</a:t>
            </a:r>
            <a:br>
              <a:rPr lang="ru-RU" dirty="0">
                <a:latin typeface="Inter" panose="020B0604020202020204" charset="0"/>
                <a:ea typeface="Inter" panose="020B0604020202020204" charset="0"/>
              </a:rPr>
            </a:br>
            <a:r>
              <a:rPr lang="ru-RU" dirty="0">
                <a:latin typeface="Inter" panose="020B0604020202020204" charset="0"/>
                <a:ea typeface="Inter" panose="020B0604020202020204" charset="0"/>
              </a:rPr>
              <a:t>«САНКТ-ПЕТЕРБУРГСКИЙ ГОСУДАРСТВЕННЫЙ УНИВЕРСИТЕТ</a:t>
            </a:r>
            <a:br>
              <a:rPr lang="ru-RU" dirty="0">
                <a:latin typeface="Inter" panose="020B0604020202020204" charset="0"/>
                <a:ea typeface="Inter" panose="020B0604020202020204" charset="0"/>
              </a:rPr>
            </a:br>
            <a:r>
              <a:rPr lang="ru-RU" dirty="0">
                <a:latin typeface="Inter" panose="020B0604020202020204" charset="0"/>
                <a:ea typeface="Inter" panose="020B0604020202020204" charset="0"/>
              </a:rPr>
              <a:t>ТЕЛЕКОММУНИКАЦИЙ ИМ. ПРОФ. М.А. БОНЧ-БРУЕВИЧА»</a:t>
            </a:r>
            <a:br>
              <a:rPr lang="ru-RU" dirty="0">
                <a:latin typeface="Inter" panose="020B0604020202020204" charset="0"/>
                <a:ea typeface="Inter" panose="020B0604020202020204" charset="0"/>
              </a:rPr>
            </a:br>
            <a:r>
              <a:rPr lang="ru-RU" dirty="0">
                <a:latin typeface="Inter" panose="020B0604020202020204" charset="0"/>
                <a:ea typeface="Inter" panose="020B0604020202020204" charset="0"/>
              </a:rPr>
              <a:t>(</a:t>
            </a:r>
            <a:r>
              <a:rPr lang="ru-RU" dirty="0" err="1">
                <a:latin typeface="Inter" panose="020B0604020202020204" charset="0"/>
                <a:ea typeface="Inter" panose="020B0604020202020204" charset="0"/>
              </a:rPr>
              <a:t>СПбГУТ</a:t>
            </a:r>
            <a:r>
              <a:rPr lang="ru-RU" dirty="0">
                <a:latin typeface="Inter" panose="020B0604020202020204" charset="0"/>
                <a:ea typeface="Inter" panose="020B0604020202020204" charset="0"/>
              </a:rPr>
              <a:t>)</a:t>
            </a:r>
            <a:br>
              <a:rPr lang="ru-RU" dirty="0">
                <a:latin typeface="Inter" panose="020B0604020202020204" charset="0"/>
                <a:ea typeface="Inter" panose="020B0604020202020204" charset="0"/>
              </a:rPr>
            </a:br>
            <a:r>
              <a:rPr lang="ru-RU" dirty="0">
                <a:latin typeface="Inter" panose="020B0604020202020204" charset="0"/>
                <a:ea typeface="Inter" panose="020B0604020202020204" charset="0"/>
              </a:rPr>
              <a:t>АРХАНГЕЛЬСКИЙ КОЛЛЕДЖ ТЕЛЕКОММУНИКАЦИЙ</a:t>
            </a:r>
            <a:br>
              <a:rPr lang="ru-RU" dirty="0">
                <a:latin typeface="Inter" panose="020B0604020202020204" charset="0"/>
                <a:ea typeface="Inter" panose="020B0604020202020204" charset="0"/>
              </a:rPr>
            </a:br>
            <a:r>
              <a:rPr lang="ru-RU" dirty="0">
                <a:latin typeface="Inter" panose="020B0604020202020204" charset="0"/>
                <a:ea typeface="Inter" panose="020B0604020202020204" charset="0"/>
              </a:rPr>
              <a:t>ИМ. Б.Л. РОЗИНГА (ФИЛИАЛ) </a:t>
            </a:r>
            <a:r>
              <a:rPr lang="ru-RU" dirty="0" err="1">
                <a:latin typeface="Inter" panose="020B0604020202020204" charset="0"/>
                <a:ea typeface="Inter" panose="020B0604020202020204" charset="0"/>
              </a:rPr>
              <a:t>СПбГУТ</a:t>
            </a:r>
            <a:r>
              <a:rPr lang="ru-RU" dirty="0">
                <a:latin typeface="Inter" panose="020B0604020202020204" charset="0"/>
                <a:ea typeface="Inter" panose="020B0604020202020204" charset="0"/>
              </a:rPr>
              <a:t/>
            </a:r>
            <a:br>
              <a:rPr lang="ru-RU" dirty="0">
                <a:latin typeface="Inter" panose="020B0604020202020204" charset="0"/>
                <a:ea typeface="Inter" panose="020B0604020202020204" charset="0"/>
              </a:rPr>
            </a:br>
            <a:r>
              <a:rPr lang="ru-RU" dirty="0">
                <a:latin typeface="Inter" panose="020B0604020202020204" charset="0"/>
                <a:ea typeface="Inter" panose="020B0604020202020204" charset="0"/>
              </a:rPr>
              <a:t>(АКТ (ф) </a:t>
            </a:r>
            <a:r>
              <a:rPr lang="ru-RU" dirty="0" err="1">
                <a:latin typeface="Inter" panose="020B0604020202020204" charset="0"/>
                <a:ea typeface="Inter" panose="020B0604020202020204" charset="0"/>
              </a:rPr>
              <a:t>СПбГУТ</a:t>
            </a:r>
            <a:r>
              <a:rPr lang="ru-RU" dirty="0">
                <a:latin typeface="Inter" panose="020B0604020202020204" charset="0"/>
                <a:ea typeface="Inter" panose="020B0604020202020204" charset="0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6919" y="2919794"/>
            <a:ext cx="9074426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3200" dirty="0" smtClean="0">
                <a:latin typeface="Inter" panose="020B0604020202020204" charset="0"/>
                <a:ea typeface="Inter" panose="020B0604020202020204" charset="0"/>
              </a:rPr>
              <a:t>КУРСОВОЙ ПРОЕКТ</a:t>
            </a:r>
          </a:p>
          <a:p>
            <a:pPr algn="ctr"/>
            <a:r>
              <a:rPr lang="ru-RU" dirty="0" smtClean="0">
                <a:latin typeface="Inter" panose="020B0604020202020204" charset="0"/>
                <a:ea typeface="Inter" panose="020B0604020202020204" charset="0"/>
              </a:rPr>
              <a:t>РАЗРАБОТКА ПОДСИТЕМЫ </a:t>
            </a:r>
            <a:r>
              <a:rPr lang="ru-RU" dirty="0" smtClean="0">
                <a:latin typeface="Inter" panose="020B0604020202020204" charset="0"/>
                <a:ea typeface="Inter" panose="020B0604020202020204" charset="0"/>
              </a:rPr>
              <a:t>«ГАСТРОБАР. УЧЁТ ПРОДУКТОВ КУХНИ»</a:t>
            </a:r>
            <a:endParaRPr lang="ru-RU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86509" y="4453987"/>
            <a:ext cx="4035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Inter" panose="020B0604020202020204" charset="0"/>
                <a:ea typeface="Inter" panose="020B0604020202020204" charset="0"/>
              </a:rPr>
              <a:t>Кленин Игорь Николаевич</a:t>
            </a:r>
          </a:p>
          <a:p>
            <a:r>
              <a:rPr lang="ru-RU" smtClean="0">
                <a:latin typeface="Manrope" panose="020B0604020202020204" charset="0"/>
              </a:rPr>
              <a:t>Студент ИСПП-21</a:t>
            </a:r>
            <a:endParaRPr lang="ru-RU" dirty="0">
              <a:latin typeface="Manrope" panose="020B060402020202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86509" y="5100318"/>
            <a:ext cx="4035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>
                <a:latin typeface="Inter" panose="020B0604020202020204" charset="0"/>
                <a:ea typeface="Inter" panose="020B0604020202020204" charset="0"/>
              </a:rPr>
              <a:t>Маломан</a:t>
            </a:r>
            <a:r>
              <a:rPr lang="ru-RU" dirty="0" smtClean="0">
                <a:latin typeface="Inter" panose="020B0604020202020204" charset="0"/>
                <a:ea typeface="Inter" panose="020B0604020202020204" charset="0"/>
              </a:rPr>
              <a:t> Юлия Сергеевна</a:t>
            </a:r>
          </a:p>
          <a:p>
            <a:r>
              <a:rPr lang="ru-RU" dirty="0" smtClean="0">
                <a:latin typeface="Manrope" panose="020B0604020202020204" charset="0"/>
              </a:rPr>
              <a:t>Руководитель</a:t>
            </a:r>
            <a:endParaRPr lang="ru-RU" dirty="0">
              <a:latin typeface="Manrope" panose="020B06040202020202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20301" y="6392980"/>
            <a:ext cx="3647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Архангельск, 2025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5343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FFEA36A-E22B-47A6-A498-25A5A6466BCB}">
  <we:reference id="wa200006067" version="1.0.0.9" store="ru-RU" storeType="OMEX"/>
  <we:alternateReferences>
    <we:reference id="WA200006067" version="1.0.0.9" store="WA20000606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300</Words>
  <Application>Microsoft Office PowerPoint</Application>
  <PresentationFormat>Широкоэкранный</PresentationFormat>
  <Paragraphs>74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Inter</vt:lpstr>
      <vt:lpstr>Manrope</vt:lpstr>
      <vt:lpstr>Pacifico</vt:lpstr>
      <vt:lpstr>Poppins</vt:lpstr>
      <vt:lpstr>Тема Office</vt:lpstr>
      <vt:lpstr>Презентация PowerPoint</vt:lpstr>
      <vt:lpstr>Актуальность</vt:lpstr>
      <vt:lpstr>Цель</vt:lpstr>
      <vt:lpstr>Задачи</vt:lpstr>
      <vt:lpstr>Архитектура и технологии</vt:lpstr>
      <vt:lpstr>Презентация PowerPoint</vt:lpstr>
      <vt:lpstr>Преимущества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Игорь Кленин</dc:creator>
  <cp:lastModifiedBy>Игорь Кленин</cp:lastModifiedBy>
  <cp:revision>10</cp:revision>
  <dcterms:created xsi:type="dcterms:W3CDTF">2025-12-08T15:25:02Z</dcterms:created>
  <dcterms:modified xsi:type="dcterms:W3CDTF">2025-12-08T16:57:33Z</dcterms:modified>
</cp:coreProperties>
</file>